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61" r:id="rId2"/>
    <p:sldId id="367" r:id="rId3"/>
    <p:sldId id="368" r:id="rId4"/>
    <p:sldId id="370" r:id="rId5"/>
    <p:sldId id="36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254" autoAdjust="0"/>
    <p:restoredTop sz="94704" autoAdjust="0"/>
  </p:normalViewPr>
  <p:slideViewPr>
    <p:cSldViewPr>
      <p:cViewPr>
        <p:scale>
          <a:sx n="122" d="100"/>
          <a:sy n="122" d="100"/>
        </p:scale>
        <p:origin x="144" y="-504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3852" y="78"/>
      </p:cViewPr>
      <p:guideLst/>
    </p:cSldViewPr>
  </p:notesViewPr>
  <p:gridSpacing cx="38100" cy="3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41DB8-B66F-4DC8-A96E-33677E0F90FF}" type="datetimeFigureOut">
              <a:rPr lang="en-US" smtClean="0"/>
              <a:t>3/1/26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4A0D4-B89B-4ADD-AF9E-38636B40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49C4A-65AC-492D-9701-81B46C3AD0E4}" type="datetimeFigureOut">
              <a:rPr lang="en-US" smtClean="0"/>
              <a:t>3/1/26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869989-EB00-4EE7-BCB5-25BDC5BB2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457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anchor="b">
            <a:normAutofit/>
          </a:bodyPr>
          <a:lstStyle>
            <a:lvl1pPr algn="l">
              <a:lnSpc>
                <a:spcPct val="76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7243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4B5B-21A0-4192-BF4C-38187F1A68D8}" type="datetime1">
              <a:rPr lang="en-US" smtClean="0"/>
              <a:t>3/1/26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CF7C-B333-48E1-A4A6-83A3C8B73AC0}" type="datetime1">
              <a:rPr lang="en-US" smtClean="0"/>
              <a:t>3/1/26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20762-5CBF-4210-AB54-376B091119F8}" type="datetime1">
              <a:rPr lang="en-US" smtClean="0"/>
              <a:t>3/1/26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B371-BF5F-4058-A212-1A908E4D2674}" type="datetime1">
              <a:rPr lang="en-US" smtClean="0"/>
              <a:t>3/1/26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083B-90AA-48CF-BAD5-00AA24D7F288}" type="datetime1">
              <a:rPr lang="en-US" smtClean="0"/>
              <a:t>3/1/26</a:t>
            </a:fld>
            <a:endParaRPr lang="en-US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BAF629-ECA2-4CF3-B790-9D9BDED98269}" type="datetime1">
              <a:rPr lang="en-US" smtClean="0"/>
              <a:pPr/>
              <a:t>3/1/26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29A4-78C8-47AB-BA06-22CB45938951}" type="datetime1">
              <a:rPr lang="en-US" smtClean="0"/>
              <a:t>3/1/26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D4ACF-2D82-46F2-A8E9-23963AA34E86}" type="datetime1">
              <a:rPr lang="en-US" smtClean="0"/>
              <a:t>3/1/26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8" name="Straight Connector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B51B2453-8663-4C69-AF73-9FD7B1DEC5D0}" type="datetime1">
              <a:rPr lang="en-US" smtClean="0"/>
              <a:pPr/>
              <a:t>3/1/26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9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mazon.com/Jienk-Terminal-Connector-Pluggable-Converter/dp/B0914Y1GXD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4" y="1909346"/>
            <a:ext cx="9907555" cy="3383280"/>
          </a:xfrm>
        </p:spPr>
        <p:txBody>
          <a:bodyPr>
            <a:normAutofit/>
          </a:bodyPr>
          <a:lstStyle/>
          <a:p>
            <a:r>
              <a:rPr lang="en-US" sz="6000" dirty="0"/>
              <a:t>EDES 301</a:t>
            </a:r>
            <a:br>
              <a:rPr lang="en-US" sz="6000" dirty="0"/>
            </a:br>
            <a:br>
              <a:rPr lang="en-US" dirty="0"/>
            </a:br>
            <a:r>
              <a:rPr lang="en-US" sz="6000" dirty="0"/>
              <a:t>Automated Western Blot Washing Proposal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1120636"/>
          </a:xfrm>
        </p:spPr>
        <p:txBody>
          <a:bodyPr/>
          <a:lstStyle/>
          <a:p>
            <a:r>
              <a:rPr lang="en-US" dirty="0"/>
              <a:t>February 22, 2026</a:t>
            </a:r>
          </a:p>
          <a:p>
            <a:r>
              <a:rPr lang="en-US" dirty="0"/>
              <a:t>Miller Harris</a:t>
            </a:r>
          </a:p>
        </p:txBody>
      </p:sp>
    </p:spTree>
    <p:extLst>
      <p:ext uri="{BB962C8B-B14F-4D97-AF65-F5344CB8AC3E}">
        <p14:creationId xmlns:p14="http://schemas.microsoft.com/office/powerpoint/2010/main" val="10690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39A49-57C9-4BE3-8B38-E944EB819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8AE04-697D-4784-A672-E28DA6A47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work in a lab here at Rice, and so much time is wasted in washing protocols which are simple and relatively mindless tasks that require repeated washing, shaking, and draining 3 times for 5 minutes </a:t>
            </a:r>
          </a:p>
          <a:p>
            <a:pPr lvl="1"/>
            <a:r>
              <a:rPr lang="en-US" dirty="0"/>
              <a:t>It would be far easier to set it once for 15 minutes, and in lab settings, allow you to prep something else in the meantime</a:t>
            </a:r>
          </a:p>
          <a:p>
            <a:endParaRPr lang="en-US" dirty="0"/>
          </a:p>
        </p:txBody>
      </p:sp>
      <p:pic>
        <p:nvPicPr>
          <p:cNvPr id="6" name="Picture 5" descr="A screenshot of a device&#10;&#10;Description automatically generated">
            <a:extLst>
              <a:ext uri="{FF2B5EF4-FFF2-40B4-BE49-F238E27FC236}">
                <a16:creationId xmlns:a16="http://schemas.microsoft.com/office/drawing/2014/main" id="{10FCE44A-C5F1-C76D-597A-61AF418E7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0" y="3238498"/>
            <a:ext cx="3033609" cy="29337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065D6BC-ECFD-90B8-371D-4F36FD637180}"/>
              </a:ext>
            </a:extLst>
          </p:cNvPr>
          <p:cNvSpPr txBox="1"/>
          <p:nvPr/>
        </p:nvSpPr>
        <p:spPr>
          <a:xfrm>
            <a:off x="3983394" y="6242872"/>
            <a:ext cx="6102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www.hackster.io</a:t>
            </a:r>
            <a:r>
              <a:rPr lang="en-US" dirty="0"/>
              <a:t>/</a:t>
            </a:r>
            <a:r>
              <a:rPr lang="en-US" dirty="0" err="1"/>
              <a:t>ericmgf</a:t>
            </a:r>
            <a:r>
              <a:rPr lang="en-US" dirty="0"/>
              <a:t>/syringe-drive-2884a5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8018D4F-E7E5-87CE-FB29-DF5E613F8A66}"/>
              </a:ext>
            </a:extLst>
          </p:cNvPr>
          <p:cNvSpPr txBox="1">
            <a:spLocks/>
          </p:cNvSpPr>
          <p:nvPr/>
        </p:nvSpPr>
        <p:spPr>
          <a:xfrm>
            <a:off x="3958512" y="2861075"/>
            <a:ext cx="4495800" cy="1439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For liquid supply and disposal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531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B93E4-AB7E-4F3D-B6C5-4ED4B78FA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Block Diagram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1E88871-2568-C0B9-566D-BC9346FC11AB}"/>
              </a:ext>
            </a:extLst>
          </p:cNvPr>
          <p:cNvSpPr/>
          <p:nvPr/>
        </p:nvSpPr>
        <p:spPr>
          <a:xfrm>
            <a:off x="3086101" y="1816459"/>
            <a:ext cx="1752600" cy="316815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Pocket Beagle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DCF4DF9-3874-4A3D-7753-BC3A400A9FE6}"/>
              </a:ext>
            </a:extLst>
          </p:cNvPr>
          <p:cNvSpPr/>
          <p:nvPr/>
        </p:nvSpPr>
        <p:spPr>
          <a:xfrm>
            <a:off x="6424127" y="2979573"/>
            <a:ext cx="1752600" cy="9144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Motor Driver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E030BA7-CAB3-8B79-E2BF-8F9E1B550615}"/>
              </a:ext>
            </a:extLst>
          </p:cNvPr>
          <p:cNvSpPr/>
          <p:nvPr/>
        </p:nvSpPr>
        <p:spPr>
          <a:xfrm>
            <a:off x="6424127" y="4124805"/>
            <a:ext cx="1752600" cy="9144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Motor Driver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1C4B9CC-1067-5DCB-4BCE-91E3401E71D1}"/>
              </a:ext>
            </a:extLst>
          </p:cNvPr>
          <p:cNvSpPr/>
          <p:nvPr/>
        </p:nvSpPr>
        <p:spPr>
          <a:xfrm>
            <a:off x="6409354" y="1806351"/>
            <a:ext cx="1752600" cy="9144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Motor Driver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27CBAE4-768D-D9E1-D611-19DD42584464}"/>
              </a:ext>
            </a:extLst>
          </p:cNvPr>
          <p:cNvSpPr/>
          <p:nvPr/>
        </p:nvSpPr>
        <p:spPr>
          <a:xfrm>
            <a:off x="10119827" y="2992016"/>
            <a:ext cx="1752600" cy="9144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Motor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D508FF1-287F-E7EF-ED45-8D9B03CE042E}"/>
              </a:ext>
            </a:extLst>
          </p:cNvPr>
          <p:cNvSpPr/>
          <p:nvPr/>
        </p:nvSpPr>
        <p:spPr>
          <a:xfrm>
            <a:off x="10119827" y="4137248"/>
            <a:ext cx="1752600" cy="9144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Motor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43E6B84-9A37-7CD1-7F56-29BAE2F95175}"/>
              </a:ext>
            </a:extLst>
          </p:cNvPr>
          <p:cNvSpPr/>
          <p:nvPr/>
        </p:nvSpPr>
        <p:spPr>
          <a:xfrm>
            <a:off x="10105054" y="1818794"/>
            <a:ext cx="1752600" cy="9144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Motor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90AF5CC-5737-0976-8051-610761C63BF8}"/>
              </a:ext>
            </a:extLst>
          </p:cNvPr>
          <p:cNvCxnSpPr/>
          <p:nvPr/>
        </p:nvCxnSpPr>
        <p:spPr>
          <a:xfrm>
            <a:off x="5029200" y="2263551"/>
            <a:ext cx="10668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8C61AE9-B179-4F17-3FA0-1AA26ABFA433}"/>
              </a:ext>
            </a:extLst>
          </p:cNvPr>
          <p:cNvCxnSpPr/>
          <p:nvPr/>
        </p:nvCxnSpPr>
        <p:spPr>
          <a:xfrm>
            <a:off x="5029200" y="4582005"/>
            <a:ext cx="10668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C997B4D-D838-A9E0-506B-A1D1DB437503}"/>
              </a:ext>
            </a:extLst>
          </p:cNvPr>
          <p:cNvCxnSpPr/>
          <p:nvPr/>
        </p:nvCxnSpPr>
        <p:spPr>
          <a:xfrm>
            <a:off x="5029200" y="3374976"/>
            <a:ext cx="10668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490B9CD-C5E0-07A1-9B0A-63F7DDAFCB6B}"/>
              </a:ext>
            </a:extLst>
          </p:cNvPr>
          <p:cNvCxnSpPr/>
          <p:nvPr/>
        </p:nvCxnSpPr>
        <p:spPr>
          <a:xfrm>
            <a:off x="8572500" y="2263551"/>
            <a:ext cx="10668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7CD64B5-AB8B-CFF8-99ED-C1DD18FA298B}"/>
              </a:ext>
            </a:extLst>
          </p:cNvPr>
          <p:cNvCxnSpPr/>
          <p:nvPr/>
        </p:nvCxnSpPr>
        <p:spPr>
          <a:xfrm>
            <a:off x="8572500" y="4582005"/>
            <a:ext cx="10668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84923E0-7531-1B62-0C62-2C3F356E06B9}"/>
              </a:ext>
            </a:extLst>
          </p:cNvPr>
          <p:cNvCxnSpPr/>
          <p:nvPr/>
        </p:nvCxnSpPr>
        <p:spPr>
          <a:xfrm>
            <a:off x="8572500" y="3374976"/>
            <a:ext cx="10668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ACB66AF-32F6-92CA-77C6-B2619D33F390}"/>
              </a:ext>
            </a:extLst>
          </p:cNvPr>
          <p:cNvSpPr txBox="1"/>
          <p:nvPr/>
        </p:nvSpPr>
        <p:spPr>
          <a:xfrm>
            <a:off x="5421864" y="2979675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804670-A754-0F5D-6925-8EFF489CC6C6}"/>
              </a:ext>
            </a:extLst>
          </p:cNvPr>
          <p:cNvSpPr txBox="1"/>
          <p:nvPr/>
        </p:nvSpPr>
        <p:spPr>
          <a:xfrm>
            <a:off x="5388819" y="1868725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588028-4443-32A7-0F5E-A363893A7186}"/>
              </a:ext>
            </a:extLst>
          </p:cNvPr>
          <p:cNvSpPr txBox="1"/>
          <p:nvPr/>
        </p:nvSpPr>
        <p:spPr>
          <a:xfrm>
            <a:off x="5421864" y="4191891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2148C82-D263-48FC-EE02-01868C8234FE}"/>
              </a:ext>
            </a:extLst>
          </p:cNvPr>
          <p:cNvSpPr txBox="1"/>
          <p:nvPr/>
        </p:nvSpPr>
        <p:spPr>
          <a:xfrm>
            <a:off x="5020647" y="2265266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GPIO x3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AAD178D-26BD-01C8-3DF4-FB268927C744}"/>
              </a:ext>
            </a:extLst>
          </p:cNvPr>
          <p:cNvSpPr txBox="1"/>
          <p:nvPr/>
        </p:nvSpPr>
        <p:spPr>
          <a:xfrm>
            <a:off x="5005874" y="3350996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GPIO x3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844C433-63F8-F931-5A02-F95347A2349A}"/>
              </a:ext>
            </a:extLst>
          </p:cNvPr>
          <p:cNvSpPr txBox="1"/>
          <p:nvPr/>
        </p:nvSpPr>
        <p:spPr>
          <a:xfrm>
            <a:off x="5005874" y="4623570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GPIO x3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51F9A0E5-2C4A-DA87-B8CD-F8BC7D6B6005}"/>
              </a:ext>
            </a:extLst>
          </p:cNvPr>
          <p:cNvSpPr/>
          <p:nvPr/>
        </p:nvSpPr>
        <p:spPr>
          <a:xfrm>
            <a:off x="300524" y="1868725"/>
            <a:ext cx="1752600" cy="9144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 Segment Display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3C9149C-52E3-3ADA-1E73-8BFC48D6B83A}"/>
              </a:ext>
            </a:extLst>
          </p:cNvPr>
          <p:cNvCxnSpPr>
            <a:cxnSpLocks/>
          </p:cNvCxnSpPr>
          <p:nvPr/>
        </p:nvCxnSpPr>
        <p:spPr>
          <a:xfrm flipH="1" flipV="1">
            <a:off x="2286000" y="2325925"/>
            <a:ext cx="571500" cy="512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38F7757-C533-E763-68E0-2CCA426318AB}"/>
              </a:ext>
            </a:extLst>
          </p:cNvPr>
          <p:cNvSpPr txBox="1"/>
          <p:nvPr/>
        </p:nvSpPr>
        <p:spPr>
          <a:xfrm>
            <a:off x="2209801" y="1816459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I2Cx2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CDA02B7B-67BD-F377-C9AC-D9CF73349142}"/>
              </a:ext>
            </a:extLst>
          </p:cNvPr>
          <p:cNvSpPr/>
          <p:nvPr/>
        </p:nvSpPr>
        <p:spPr>
          <a:xfrm>
            <a:off x="382082" y="3855621"/>
            <a:ext cx="1752600" cy="9144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 x Buttons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318748D-9680-3E85-3028-F932DBAFB5C1}"/>
              </a:ext>
            </a:extLst>
          </p:cNvPr>
          <p:cNvCxnSpPr>
            <a:cxnSpLocks/>
          </p:cNvCxnSpPr>
          <p:nvPr/>
        </p:nvCxnSpPr>
        <p:spPr>
          <a:xfrm flipH="1" flipV="1">
            <a:off x="2272307" y="4462048"/>
            <a:ext cx="571500" cy="512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82366598-045E-DEE2-FB85-559D4F1A5583}"/>
              </a:ext>
            </a:extLst>
          </p:cNvPr>
          <p:cNvSpPr txBox="1"/>
          <p:nvPr/>
        </p:nvSpPr>
        <p:spPr>
          <a:xfrm>
            <a:off x="2073817" y="3955609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GPIO x3</a:t>
            </a:r>
          </a:p>
        </p:txBody>
      </p:sp>
    </p:spTree>
    <p:extLst>
      <p:ext uri="{BB962C8B-B14F-4D97-AF65-F5344CB8AC3E}">
        <p14:creationId xmlns:p14="http://schemas.microsoft.com/office/powerpoint/2010/main" val="140782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DFEA3-93A8-4943-9F3A-4798FB13F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6200" y="95255"/>
            <a:ext cx="4448370" cy="914401"/>
          </a:xfrm>
        </p:spPr>
        <p:txBody>
          <a:bodyPr/>
          <a:lstStyle/>
          <a:p>
            <a:r>
              <a:rPr lang="en-US" dirty="0"/>
              <a:t>Power Block Diagram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18AF3C5-A7CC-6C97-56E3-D06CC424B57B}"/>
              </a:ext>
            </a:extLst>
          </p:cNvPr>
          <p:cNvSpPr/>
          <p:nvPr/>
        </p:nvSpPr>
        <p:spPr>
          <a:xfrm>
            <a:off x="8086919" y="1333503"/>
            <a:ext cx="1752600" cy="8763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 V supply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32E769D-6366-1412-2517-4401E060A0B2}"/>
              </a:ext>
            </a:extLst>
          </p:cNvPr>
          <p:cNvSpPr/>
          <p:nvPr/>
        </p:nvSpPr>
        <p:spPr>
          <a:xfrm>
            <a:off x="10154039" y="2990850"/>
            <a:ext cx="1752600" cy="8763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Motor Driver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D88A10A-35F9-01B1-8155-7D87CB87CD6A}"/>
              </a:ext>
            </a:extLst>
          </p:cNvPr>
          <p:cNvSpPr/>
          <p:nvPr/>
        </p:nvSpPr>
        <p:spPr>
          <a:xfrm>
            <a:off x="8086919" y="2990850"/>
            <a:ext cx="1752600" cy="8763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Motor Driver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22D6841-F25F-D92C-32D9-D0EAADD8AA22}"/>
              </a:ext>
            </a:extLst>
          </p:cNvPr>
          <p:cNvSpPr/>
          <p:nvPr/>
        </p:nvSpPr>
        <p:spPr>
          <a:xfrm>
            <a:off x="6019800" y="2990850"/>
            <a:ext cx="1752600" cy="8763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Motor Driver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9C9740A-7CC7-A0AE-9569-6083873FC056}"/>
              </a:ext>
            </a:extLst>
          </p:cNvPr>
          <p:cNvSpPr/>
          <p:nvPr/>
        </p:nvSpPr>
        <p:spPr>
          <a:xfrm>
            <a:off x="10154039" y="4838699"/>
            <a:ext cx="1752600" cy="8763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Motor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7A99D13-8463-33A1-FB3A-8D1FE029C430}"/>
              </a:ext>
            </a:extLst>
          </p:cNvPr>
          <p:cNvSpPr/>
          <p:nvPr/>
        </p:nvSpPr>
        <p:spPr>
          <a:xfrm>
            <a:off x="8086919" y="4838699"/>
            <a:ext cx="1752600" cy="8763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Motor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344B8E6-4C60-F7B6-2FD8-A3FAF28C78BD}"/>
              </a:ext>
            </a:extLst>
          </p:cNvPr>
          <p:cNvSpPr/>
          <p:nvPr/>
        </p:nvSpPr>
        <p:spPr>
          <a:xfrm>
            <a:off x="6019800" y="4838699"/>
            <a:ext cx="1752600" cy="8763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Motor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2E7EFC3-1947-F918-117E-6F77112D531F}"/>
              </a:ext>
            </a:extLst>
          </p:cNvPr>
          <p:cNvCxnSpPr>
            <a:stCxn id="8" idx="2"/>
            <a:endCxn id="10" idx="0"/>
          </p:cNvCxnSpPr>
          <p:nvPr/>
        </p:nvCxnSpPr>
        <p:spPr>
          <a:xfrm>
            <a:off x="8963219" y="2209803"/>
            <a:ext cx="0" cy="781047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20D21EE-57FC-43C9-5B3D-458FC3671C62}"/>
              </a:ext>
            </a:extLst>
          </p:cNvPr>
          <p:cNvCxnSpPr>
            <a:cxnSpLocks/>
            <a:endCxn id="11" idx="0"/>
          </p:cNvCxnSpPr>
          <p:nvPr/>
        </p:nvCxnSpPr>
        <p:spPr>
          <a:xfrm flipH="1">
            <a:off x="6896100" y="2194249"/>
            <a:ext cx="2067119" cy="796601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9337067-1630-70B1-EBCF-405906F59AAE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8963219" y="2209803"/>
            <a:ext cx="2067120" cy="781047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1C797FA-1081-0690-380F-BACD5B5879B1}"/>
              </a:ext>
            </a:extLst>
          </p:cNvPr>
          <p:cNvCxnSpPr/>
          <p:nvPr/>
        </p:nvCxnSpPr>
        <p:spPr>
          <a:xfrm>
            <a:off x="8963219" y="3981453"/>
            <a:ext cx="0" cy="781047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1D727CC-0994-AFB7-D603-328F179538A0}"/>
              </a:ext>
            </a:extLst>
          </p:cNvPr>
          <p:cNvCxnSpPr/>
          <p:nvPr/>
        </p:nvCxnSpPr>
        <p:spPr>
          <a:xfrm>
            <a:off x="11030339" y="3981453"/>
            <a:ext cx="0" cy="781047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AEB655C-4469-F000-1ACA-3067FA6D8E13}"/>
              </a:ext>
            </a:extLst>
          </p:cNvPr>
          <p:cNvCxnSpPr/>
          <p:nvPr/>
        </p:nvCxnSpPr>
        <p:spPr>
          <a:xfrm>
            <a:off x="6896100" y="3867150"/>
            <a:ext cx="0" cy="781047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AF11CB8-6486-F87D-B603-155DF2CCBACB}"/>
              </a:ext>
            </a:extLst>
          </p:cNvPr>
          <p:cNvSpPr txBox="1"/>
          <p:nvPr/>
        </p:nvSpPr>
        <p:spPr>
          <a:xfrm>
            <a:off x="7234529" y="2230994"/>
            <a:ext cx="125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 V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AB32375-2937-73AE-A6F9-502F1671FA1A}"/>
              </a:ext>
            </a:extLst>
          </p:cNvPr>
          <p:cNvSpPr txBox="1"/>
          <p:nvPr/>
        </p:nvSpPr>
        <p:spPr>
          <a:xfrm>
            <a:off x="8929979" y="2477861"/>
            <a:ext cx="125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 V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A3C78B3-1437-6E43-F050-F040D799C215}"/>
              </a:ext>
            </a:extLst>
          </p:cNvPr>
          <p:cNvSpPr txBox="1"/>
          <p:nvPr/>
        </p:nvSpPr>
        <p:spPr>
          <a:xfrm>
            <a:off x="9806279" y="2216996"/>
            <a:ext cx="125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 V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F2462D9-39D6-8DF5-7CE7-E736905F7C4B}"/>
              </a:ext>
            </a:extLst>
          </p:cNvPr>
          <p:cNvSpPr txBox="1"/>
          <p:nvPr/>
        </p:nvSpPr>
        <p:spPr>
          <a:xfrm>
            <a:off x="11057845" y="4111128"/>
            <a:ext cx="125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 V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A01885D-4014-C719-6925-13115F3D7598}"/>
              </a:ext>
            </a:extLst>
          </p:cNvPr>
          <p:cNvSpPr txBox="1"/>
          <p:nvPr/>
        </p:nvSpPr>
        <p:spPr>
          <a:xfrm>
            <a:off x="8975271" y="4122220"/>
            <a:ext cx="125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 V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9677472-6A25-DAD4-11D2-E26D7D93FD1B}"/>
              </a:ext>
            </a:extLst>
          </p:cNvPr>
          <p:cNvSpPr txBox="1"/>
          <p:nvPr/>
        </p:nvSpPr>
        <p:spPr>
          <a:xfrm>
            <a:off x="6908153" y="4128022"/>
            <a:ext cx="125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 V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3A519178-BA2B-721C-B9AD-D89F792F5ACC}"/>
              </a:ext>
            </a:extLst>
          </p:cNvPr>
          <p:cNvSpPr/>
          <p:nvPr/>
        </p:nvSpPr>
        <p:spPr>
          <a:xfrm>
            <a:off x="604546" y="2847192"/>
            <a:ext cx="1752600" cy="16332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Pocket Beagle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68A3E19-62E0-9A08-E65A-1E162F968FA7}"/>
              </a:ext>
            </a:extLst>
          </p:cNvPr>
          <p:cNvCxnSpPr>
            <a:cxnSpLocks/>
          </p:cNvCxnSpPr>
          <p:nvPr/>
        </p:nvCxnSpPr>
        <p:spPr>
          <a:xfrm>
            <a:off x="2552700" y="3285343"/>
            <a:ext cx="3152580" cy="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FAE86A55-307E-83B7-664F-878291C02D92}"/>
              </a:ext>
            </a:extLst>
          </p:cNvPr>
          <p:cNvCxnSpPr>
            <a:cxnSpLocks/>
          </p:cNvCxnSpPr>
          <p:nvPr/>
        </p:nvCxnSpPr>
        <p:spPr>
          <a:xfrm>
            <a:off x="2671666" y="2892459"/>
            <a:ext cx="5415253" cy="399882"/>
          </a:xfrm>
          <a:prstGeom prst="bentConnector3">
            <a:avLst>
              <a:gd name="adj1" fmla="val 96522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id="{FDC8B42F-E032-B3AC-89DB-9442A93A0F59}"/>
              </a:ext>
            </a:extLst>
          </p:cNvPr>
          <p:cNvCxnSpPr>
            <a:cxnSpLocks/>
          </p:cNvCxnSpPr>
          <p:nvPr/>
        </p:nvCxnSpPr>
        <p:spPr>
          <a:xfrm flipV="1">
            <a:off x="2552700" y="3565659"/>
            <a:ext cx="7601339" cy="466713"/>
          </a:xfrm>
          <a:prstGeom prst="bentConnector3">
            <a:avLst>
              <a:gd name="adj1" fmla="val 97627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E5F7F9E0-4FE1-26CF-7BF4-D94E48E7C1E6}"/>
              </a:ext>
            </a:extLst>
          </p:cNvPr>
          <p:cNvSpPr txBox="1"/>
          <p:nvPr/>
        </p:nvSpPr>
        <p:spPr>
          <a:xfrm>
            <a:off x="3379432" y="2360646"/>
            <a:ext cx="2078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3.3 V Signal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8E294B2-B7FF-76FB-CE9D-EB911D6FF241}"/>
              </a:ext>
            </a:extLst>
          </p:cNvPr>
          <p:cNvSpPr txBox="1"/>
          <p:nvPr/>
        </p:nvSpPr>
        <p:spPr>
          <a:xfrm>
            <a:off x="3340655" y="2942256"/>
            <a:ext cx="2078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3.3 V Signal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1AEC85E-AB30-B8E4-649B-247AB8DA3FC4}"/>
              </a:ext>
            </a:extLst>
          </p:cNvPr>
          <p:cNvSpPr txBox="1"/>
          <p:nvPr/>
        </p:nvSpPr>
        <p:spPr>
          <a:xfrm>
            <a:off x="3217704" y="3685225"/>
            <a:ext cx="2078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3.3 V Signal</a:t>
            </a:r>
          </a:p>
        </p:txBody>
      </p: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685DF78E-F4F2-A015-49BA-C733A4226953}"/>
              </a:ext>
            </a:extLst>
          </p:cNvPr>
          <p:cNvCxnSpPr>
            <a:cxnSpLocks/>
          </p:cNvCxnSpPr>
          <p:nvPr/>
        </p:nvCxnSpPr>
        <p:spPr>
          <a:xfrm rot="10800000" flipV="1">
            <a:off x="1333502" y="1707966"/>
            <a:ext cx="6629399" cy="1022012"/>
          </a:xfrm>
          <a:prstGeom prst="bentConnector3">
            <a:avLst>
              <a:gd name="adj1" fmla="val 100064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2EA773E3-F809-98B9-71B2-7381EA41239D}"/>
              </a:ext>
            </a:extLst>
          </p:cNvPr>
          <p:cNvSpPr txBox="1"/>
          <p:nvPr/>
        </p:nvSpPr>
        <p:spPr>
          <a:xfrm>
            <a:off x="2121647" y="1338634"/>
            <a:ext cx="125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 V</a:t>
            </a: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FA556F37-6D7D-6D24-ED63-2C217DA2DD4D}"/>
              </a:ext>
            </a:extLst>
          </p:cNvPr>
          <p:cNvSpPr/>
          <p:nvPr/>
        </p:nvSpPr>
        <p:spPr>
          <a:xfrm>
            <a:off x="360580" y="4991100"/>
            <a:ext cx="1752600" cy="11226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 Segment Display</a:t>
            </a:r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035C884A-FDF7-AD90-E0E3-FB048C1F0AD7}"/>
              </a:ext>
            </a:extLst>
          </p:cNvPr>
          <p:cNvSpPr/>
          <p:nvPr/>
        </p:nvSpPr>
        <p:spPr>
          <a:xfrm>
            <a:off x="2627153" y="4991100"/>
            <a:ext cx="1752600" cy="11226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 x Buttons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C2B54F47-5FFA-88E8-6036-1D5E0DC143CF}"/>
              </a:ext>
            </a:extLst>
          </p:cNvPr>
          <p:cNvCxnSpPr/>
          <p:nvPr/>
        </p:nvCxnSpPr>
        <p:spPr>
          <a:xfrm>
            <a:off x="1066800" y="4588926"/>
            <a:ext cx="0" cy="347147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493C45F0-1514-2C87-775D-F5005C153378}"/>
              </a:ext>
            </a:extLst>
          </p:cNvPr>
          <p:cNvCxnSpPr>
            <a:cxnSpLocks/>
          </p:cNvCxnSpPr>
          <p:nvPr/>
        </p:nvCxnSpPr>
        <p:spPr>
          <a:xfrm>
            <a:off x="2357146" y="4576225"/>
            <a:ext cx="393151" cy="359848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DB94F460-D385-94D2-DCDB-E34E3ECA8BC6}"/>
              </a:ext>
            </a:extLst>
          </p:cNvPr>
          <p:cNvSpPr txBox="1"/>
          <p:nvPr/>
        </p:nvSpPr>
        <p:spPr>
          <a:xfrm>
            <a:off x="1047124" y="4491552"/>
            <a:ext cx="7435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3.3V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695DEDF-1766-C7AD-1E41-D6E246E0D489}"/>
              </a:ext>
            </a:extLst>
          </p:cNvPr>
          <p:cNvSpPr txBox="1"/>
          <p:nvPr/>
        </p:nvSpPr>
        <p:spPr>
          <a:xfrm>
            <a:off x="2605616" y="4409589"/>
            <a:ext cx="7435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3.3V</a:t>
            </a:r>
          </a:p>
        </p:txBody>
      </p:sp>
    </p:spTree>
    <p:extLst>
      <p:ext uri="{BB962C8B-B14F-4D97-AF65-F5344CB8AC3E}">
        <p14:creationId xmlns:p14="http://schemas.microsoft.com/office/powerpoint/2010/main" val="4204615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1467B-51C2-4E0B-B52A-83BD9F0EB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/ Budget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0B47F4B-CB02-4D02-BE84-F6BC57D0FE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5098510"/>
              </p:ext>
            </p:extLst>
          </p:nvPr>
        </p:nvGraphicFramePr>
        <p:xfrm>
          <a:off x="609600" y="1295400"/>
          <a:ext cx="10972800" cy="40436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837714">
                  <a:extLst>
                    <a:ext uri="{9D8B030D-6E8A-4147-A177-3AD203B41FA5}">
                      <a16:colId xmlns:a16="http://schemas.microsoft.com/office/drawing/2014/main" val="3675253430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1372058784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3565830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EDES301</a:t>
                      </a:r>
                    </a:p>
                    <a:p>
                      <a:pPr algn="ctr"/>
                      <a:r>
                        <a:rPr lang="en-US" dirty="0"/>
                        <a:t> to Buy?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800787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r>
                        <a:rPr lang="en-US" dirty="0"/>
                        <a:t>3 Stepper Motors (https://</a:t>
                      </a:r>
                      <a:r>
                        <a:rPr lang="en-US" dirty="0" err="1"/>
                        <a:t>www.amazon.com</a:t>
                      </a:r>
                      <a:r>
                        <a:rPr lang="en-US" dirty="0"/>
                        <a:t>/HiLetgo-ULN2003-28BYJ-48-Stepper-4-phase/</a:t>
                      </a:r>
                      <a:r>
                        <a:rPr lang="en-US" dirty="0" err="1"/>
                        <a:t>dp</a:t>
                      </a:r>
                      <a:r>
                        <a:rPr lang="en-US" dirty="0"/>
                        <a:t>/B00LPK0E5A/)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$14.59 for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3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Syringes (https://</a:t>
                      </a:r>
                      <a:r>
                        <a:rPr lang="en-US" dirty="0" err="1"/>
                        <a:t>www.amazon.com</a:t>
                      </a:r>
                      <a:r>
                        <a:rPr lang="en-US" dirty="0"/>
                        <a:t>/Plastic-Syringes-Scientific-Lubricant-Supplies/</a:t>
                      </a:r>
                      <a:r>
                        <a:rPr lang="en-US" dirty="0" err="1"/>
                        <a:t>dp</a:t>
                      </a:r>
                      <a:r>
                        <a:rPr lang="en-US" dirty="0"/>
                        <a:t>/B0B68HRFZN/?</a:t>
                      </a:r>
                      <a:r>
                        <a:rPr lang="en-US" dirty="0" err="1"/>
                        <a:t>th</a:t>
                      </a:r>
                      <a:r>
                        <a:rPr lang="en-US" dirty="0"/>
                        <a:t>=1)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$5.99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126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hlinkClick r:id="rId3"/>
                        </a:rPr>
                        <a:t>https://www.amazon.com/Jienk-Terminal-Connector-Pluggable-Converter/dp/B0914Y1GXD/</a:t>
                      </a:r>
                      <a:r>
                        <a:rPr lang="en-US" dirty="0"/>
                        <a:t> Power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7493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2840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8356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4489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77084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1248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amond Grid 16x9">
  <a:themeElements>
    <a:clrScheme name="Custom 3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000000"/>
      </a:hlink>
      <a:folHlink>
        <a:srgbClr val="9F6715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diamond grid presentation (widescreen).potx" id="{B2221865-AD13-4DF0-B68E-BF08E8CC5659}" vid="{BAA0C488-98B6-4F47-8E1C-5C7CD9605F73}"/>
    </a:ext>
  </a:extLst>
</a:theme>
</file>

<file path=ppt/theme/theme2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diamond grid presentation (widescreen)</Template>
  <TotalTime>9052</TotalTime>
  <Words>254</Words>
  <Application>Microsoft Macintosh PowerPoint</Application>
  <PresentationFormat>Widescreen</PresentationFormat>
  <Paragraphs>65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Diamond Grid 16x9</vt:lpstr>
      <vt:lpstr>EDES 301  Automated Western Blot Washing Proposal</vt:lpstr>
      <vt:lpstr>Background Information</vt:lpstr>
      <vt:lpstr>System Block Diagram</vt:lpstr>
      <vt:lpstr>Power Block Diagram</vt:lpstr>
      <vt:lpstr>Components / Budget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Layout</dc:title>
  <dc:creator>Erik Welsh</dc:creator>
  <cp:lastModifiedBy>Miller Harris</cp:lastModifiedBy>
  <cp:revision>417</cp:revision>
  <dcterms:created xsi:type="dcterms:W3CDTF">2018-01-09T20:24:50Z</dcterms:created>
  <dcterms:modified xsi:type="dcterms:W3CDTF">2026-03-02T02:59:24Z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